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00" d="100"/>
          <a:sy n="200" d="100"/>
        </p:scale>
        <p:origin x="-7668" y="-4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2A9B66-6FF5-E05F-F6FB-10D86D48D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D10AB2B-A70A-E7A6-32EE-6D1FC9A7ED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6EA8743-3CB1-E246-49D8-0C9BD88BA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4D9CF-402F-4D0C-BB85-6BFADB64E4E3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46D36D3-23B6-02A4-2720-B9A879D0C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285271-273A-627B-29B5-056DD6875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8BBDAC-42F4-49B7-8829-12C07218DE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259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A30768-D86D-9D86-C15A-B051F8B9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119456-F647-6AB6-D240-699C4FD72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773EB4-4470-214F-B6D7-7ADFFE6A4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4D9CF-402F-4D0C-BB85-6BFADB64E4E3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518B1D-45DF-AAF3-2EBD-283C487FD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E39153F-CA2D-4117-96E7-E4CE41720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8BBDAC-42F4-49B7-8829-12C07218DE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675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E6111C-BF34-FF4D-7E47-BABABA71B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E9237FF-6211-7817-07C3-C3BECD444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5033F8-9D8C-345D-2E58-8DCE1EDBC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4D9CF-402F-4D0C-BB85-6BFADB64E4E3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52F962-56FD-3DB5-D635-26353CD15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9810D49-24BC-78D7-32F9-4357AB1D0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8BBDAC-42F4-49B7-8829-12C07218DE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0874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CF8FFB-AEFA-428F-D4FF-1A895801E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F65DE1-63B1-985E-894E-79827A257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1F5837F-30E5-CDB3-F216-48BF1071C6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B1E5588-36A4-8027-723E-8FDFA530A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4D9CF-402F-4D0C-BB85-6BFADB64E4E3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8468AFF-CAA2-44C6-B68E-128D215B0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3803F1-DCA3-E4E6-CE1C-D038F4FCE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8BBDAC-42F4-49B7-8829-12C07218DE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8096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A3F605-E3D4-8736-1CA3-8C0AE790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08FE34-C265-C74A-358C-029CBD5D7F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6983B4E-3956-95A1-116E-5E0F80D81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1737796-30BE-CF35-CC88-7841A95923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790C023-3C90-9F56-C534-880AF592A4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2F9C9B0-F674-D1D1-217B-E96ADBECA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4D9CF-402F-4D0C-BB85-6BFADB64E4E3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081A4A-86F7-9915-B775-19971A3FF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C43CC1D-035F-CE8E-A47F-43509ACAE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8BBDAC-42F4-49B7-8829-12C07218DE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3625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BBD760-4703-F6D5-6845-702CFB246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B251409-7872-D5CF-9898-CDD63FE3A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4D9CF-402F-4D0C-BB85-6BFADB64E4E3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75AF568-D90A-DCE5-735F-C6F0F793A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8C2143D-59B7-4517-0ECB-8A4E09F91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8BBDAC-42F4-49B7-8829-12C07218DE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7140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4167EB2-1380-1160-C08F-80C1C63E7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4D9CF-402F-4D0C-BB85-6BFADB64E4E3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CD16D9-A37C-7DE9-EC71-C1A22573C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B2C8CD9-CF36-D9EE-21CB-3BF0FACEF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8BBDAC-42F4-49B7-8829-12C07218DE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4672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3482D2-9E6A-0947-4D42-BF86961AA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77DC39-EF39-CD03-861F-4F116976D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2AFF4D1-B5BD-7707-B6AB-8C3EE3E06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ACC8DFE-7309-8B65-44BF-0865FE2F2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4D9CF-402F-4D0C-BB85-6BFADB64E4E3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9CA2326-9922-DE59-424B-EAB1179BA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C04EBB2-6E0B-FE0F-E814-3AB79A7D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8BBDAC-42F4-49B7-8829-12C07218DE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647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132C22-1127-4B34-8D73-DCB252C6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025FFF3-0591-05C0-A436-6618AD02F1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E54E63-AF5F-4ECE-B677-AE56B1946C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360D6F-4CF7-E496-41AC-EAC25F5DF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4D9CF-402F-4D0C-BB85-6BFADB64E4E3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06E30F3-32EE-CECF-EB6B-954D15063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9C2712-5FCA-BE91-B22D-654EDD5B6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8BBDAC-42F4-49B7-8829-12C07218DE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1774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4EB8D-DC4D-245E-EB4E-259919EE0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C5975B4-5A0D-762B-A19E-4CEB4B1B1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D01EBF1-4E21-2439-50E3-389DAC7C4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4D9CF-402F-4D0C-BB85-6BFADB64E4E3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4D7F9C-73EA-7698-E443-DDAD921C6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2E73CCF-B539-50A8-60E2-0F492693F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8BBDAC-42F4-49B7-8829-12C07218DE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8801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2FFCAC7-E5EC-8BE4-1459-1AE18F2D10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2E045B1-EA9C-C096-9528-1872BEEBD9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4BDF954-16CE-17D3-2C1F-ADB57362C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4D9CF-402F-4D0C-BB85-6BFADB64E4E3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820620-DEC0-CD0D-C3ED-63345CAAD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0456CE1-6C42-6F52-650F-6E5B859B7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8BBDAC-42F4-49B7-8829-12C07218DE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8256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A7D9A7F-C203-94A7-4D46-64C9C1209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3758115-B25D-9A05-9383-48B2157BA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3DDD00D-24E7-4F18-9328-468EBE199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B4D9CF-402F-4D0C-BB85-6BFADB64E4E3}" type="datetimeFigureOut">
              <a:rPr lang="zh-CN" altLang="en-US" smtClean="0"/>
              <a:t>2026/2/20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9A1CE9-07F1-3303-185D-B46C12D4A5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271B06-4DD9-09AC-868E-A1974D65D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8BBDAC-42F4-49B7-8829-12C07218DE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137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4555BE62-0439-4E6C-89E9-17F34189A3CC}"/>
              </a:ext>
            </a:extLst>
          </p:cNvPr>
          <p:cNvSpPr txBox="1"/>
          <p:nvPr/>
        </p:nvSpPr>
        <p:spPr>
          <a:xfrm>
            <a:off x="0" y="0"/>
            <a:ext cx="2437200" cy="341574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init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(&lt;directory&gt;)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Initialize a new local repository (.git created).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--bare : Create a bare repository (no working directory)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clone &lt;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repo_url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&gt; (&lt;directory&gt;)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Copy a complete repository from remote to local. Default remote name: origin.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--depth &lt;n&gt; : Only download n latest commits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--branch &lt;branch&gt; : Checkout specific branch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--recurse-submodules : Clone submodules automatically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status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current branch, staged/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unstaged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files, ahead/behind status.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-s / --short : Short format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-b : Show branch info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add &lt;file&gt; / git add . / git add -A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Add changes to staging area.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. : Add modified files in current directory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-A / --all : Add all changes 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-p : Interactive patch selection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commit -m "message"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Commit staged changes to repository.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-m : Specify commit message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-a : Auto-stage tracked files (not new files)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--amend : Modify last commit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--allow-empty : Allow empty commit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diff (&lt;file&gt;)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changes in working directory.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--staged : Staging vs last commit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HEAD : Working directory vs last commit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branch1 branch2 : Compare two branches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F1E55AE-550C-D14C-9E5E-DDBF91EA087F}"/>
              </a:ext>
            </a:extLst>
          </p:cNvPr>
          <p:cNvSpPr txBox="1"/>
          <p:nvPr/>
        </p:nvSpPr>
        <p:spPr>
          <a:xfrm>
            <a:off x="9754800" y="1648"/>
            <a:ext cx="2437200" cy="72269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Generation of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Github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Key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ssh-keygen -t ed25519 -C "email@example.com"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ssh-add ~/.ssh/id_ed25519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cat ~/.ssh/id_ed25519.pub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Paste Result to </a:t>
            </a:r>
            <a:r>
              <a:rPr lang="en-US" altLang="zh-CN" sz="800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Github</a:t>
            </a:r>
            <a:endParaRPr lang="en-US" altLang="zh-CN" sz="800" dirty="0">
              <a:solidFill>
                <a:srgbClr val="FFFF00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ssh -T git@github.com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433AD4-9E9A-0FC6-CC57-64BB2ED8B4F6}"/>
              </a:ext>
            </a:extLst>
          </p:cNvPr>
          <p:cNvSpPr txBox="1"/>
          <p:nvPr/>
        </p:nvSpPr>
        <p:spPr>
          <a:xfrm>
            <a:off x="2440200" y="0"/>
            <a:ext cx="2437200" cy="682693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branch / git branch &lt;branch&gt;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Create or list branches.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-d : Delete merged branch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-D : Force delete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-v / -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vv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: Show last commit and tracking info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switch &lt;branch&gt; / git switch -c &lt;branch&gt;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Switch branch (recommended over checkout).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-c : Create and switch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checkout &lt;branch&gt;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Legacy command for switching/creating branch.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-b : Create and switch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--detach : Detached HEAD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merge &lt;branch&gt;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Merge specified branch into current branch.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--no-ff : Always create merge commit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--ff-only : Only allow fast-forward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merge –abort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Abort current merge and restore previous state.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rebase &lt;branch&gt;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Reapply current branch commits on top of &lt;branch&gt;.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: Interactive rebase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--abort : Cancel rebase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--continue : Continue after resolving conflict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--skip : Skip problematic commit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--onto &lt;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newbase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&gt; &lt;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oldbase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&gt; &lt;branch&gt; : Rebase branch onto 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newbase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, excluding before 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oldbase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--rebase-merges : Preserve merge commits.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cherry-pick &lt;commit&gt; (&lt;commit2&gt; ...)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Apply specific commit(s) onto current branch.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--abort : Cancel cherry-pick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--continue : Continue after conflict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--skip : Skip commit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--allow-empty : Keep empty commit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checkout/ restore --ours &lt;file&gt;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Use current branch version of file during conflict.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checkout/ restore --theirs &lt;file&gt;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Use incoming branch version during conflict.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merge-file &lt;current&gt; &lt;base&gt; &lt;other&gt;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Perform three-way file merge manually.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diff --name-only --diff-filter=U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List files with unresolved conflicts.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log --merge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commits involved in merge conflict.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show :&lt;stage&gt;:&lt;file&gt;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conflicted file at specific stage.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Stage 1 : common ancestor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Stage 2 : ours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Stage 3 : theirs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branch -u &lt;remote&gt;/&lt;branch&gt;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Set upstream tracking branch.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push -u origin &lt;branch&gt;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Push branch and set upstream in one step.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branch –r/-a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List remote branches (-r) or all branches (-a).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branch --merged</a:t>
            </a:r>
            <a:b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branch --no-merged</a:t>
            </a:r>
            <a:b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merged or unmerged branches relative to current branch.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4D09E03-B457-0392-0D9F-BF39A1D0FDDD}"/>
              </a:ext>
            </a:extLst>
          </p:cNvPr>
          <p:cNvSpPr txBox="1"/>
          <p:nvPr/>
        </p:nvSpPr>
        <p:spPr>
          <a:xfrm>
            <a:off x="0" y="3411191"/>
            <a:ext cx="2437200" cy="341574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remote (-v)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List remotes.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-v : Show remote URLs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remote add &lt;name&gt; &lt;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url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&gt;/remove &lt;name&gt;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Add/ Remove a new remote.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fetch (&lt;remote&gt;) (--all) (--prune)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Download objects and refs from remote (no merge).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--all : Fetch all remotes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--prune : Remove deleted remote branches locally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pull (&lt;remote&gt; &lt;branch&gt;) (--rebase) (--ff-only) (--no-ff)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Fetch and integrate into current branch.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--rebase : Rebase instead of merge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--ff-only : Only allow fast-forward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--no-ff : Always create merge commit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push (&lt;remote&gt; &lt;branch&gt;) (-u) (--force) (--force-with-lease) (--tags)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Upload local commits to remote.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-u : Set upstream tracking branch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--force : Overwrite remote history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--force-with-lease : Safer force push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--tags : Push all tags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push &lt;remote&gt; --delete &lt;branch&gt;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Delete remote branch.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branch -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vv</a:t>
            </a:r>
            <a:endParaRPr lang="en-US" altLang="zh-CN" sz="800" b="1" dirty="0">
              <a:solidFill>
                <a:srgbClr val="FFFF00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tracking branch and ahead/behind status.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ls-remote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List remote refs without cloning.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8AE7C62-D51C-07A2-0CEF-065ED601BB95}"/>
              </a:ext>
            </a:extLst>
          </p:cNvPr>
          <p:cNvSpPr txBox="1"/>
          <p:nvPr/>
        </p:nvSpPr>
        <p:spPr>
          <a:xfrm>
            <a:off x="4877400" y="0"/>
            <a:ext cx="2437200" cy="449296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restore &lt;file&gt;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Restore working directory changes.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--staged : 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Unstage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file (move from staging back to working area)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--source=&lt;commit&gt; : Restore from specific commit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reset &lt;commit&gt; (--soft) (--mixed) (--hard)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Move current branch pointer (HEAD) to specified commit.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--soft : Keep changes staged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--mixed : Keep changes in working directory (default)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--hard : Discard all changes (dangerous)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revert &lt;commit&gt;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Create a new commit that reverses specified commit.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--no-edit : Skip commit message editor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commit --amend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Modify last commit (message or staged content).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reflog</a:t>
            </a:r>
            <a:endParaRPr lang="en-US" altLang="zh-CN" sz="800" b="1" dirty="0">
              <a:solidFill>
                <a:srgbClr val="FFFF00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HEAD movement history (including resets and rebases).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clean (-n) (-f) (-d)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Remove untracked files.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-n : Dry run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-f : Force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-d : Include directories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stash (push) (-u) (-a)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Temporarily save uncommitted changes.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-u : Include untracked files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-a : Include ignored files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stash pop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Apply latest stash and remove it.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stash apply (&lt;stash@{n}&gt;)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Apply stash without removing it.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stash list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List saved stashes.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stash drop (&lt;stash@{n}&gt;)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Delete stash entry.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7B11D5B-9FE2-0F3F-B3E1-83270793A6C9}"/>
              </a:ext>
            </a:extLst>
          </p:cNvPr>
          <p:cNvSpPr txBox="1"/>
          <p:nvPr/>
        </p:nvSpPr>
        <p:spPr>
          <a:xfrm>
            <a:off x="4877400" y="4492961"/>
            <a:ext cx="2437200" cy="233852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submodule add &lt;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repo_url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&gt; (&lt;path&gt;)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Add a submodule to current repository.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submodule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init</a:t>
            </a:r>
            <a:endParaRPr lang="en-US" altLang="zh-CN" sz="800" b="1" dirty="0">
              <a:solidFill>
                <a:srgbClr val="FFFF00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Initialize submodule configuration (after clone).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submodule update (--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init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) (--recursive)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Checkout submodule to recorded commit.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init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: Initialize if not yet initialized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--recursive : Include nested submodules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clone &lt;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repo_url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&gt; --recurse-submodules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Clone repository and automatically initialize/update submodules.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submodule update --remote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Update submodule to latest commit of tracked branch.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submodule foreach &lt;command&gt;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Run command inside each submodule.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submodule status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submodule commit and state.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039A55C-D2C3-DAC4-DC01-D6BF54015E02}"/>
              </a:ext>
            </a:extLst>
          </p:cNvPr>
          <p:cNvSpPr txBox="1"/>
          <p:nvPr/>
        </p:nvSpPr>
        <p:spPr>
          <a:xfrm>
            <a:off x="7313400" y="0"/>
            <a:ext cx="2437200" cy="224875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config --list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List current Git configuration.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config &lt;key&gt; &lt;value&gt;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Set configuration for current repository.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config --global &lt;key&gt; &lt;value&gt;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Set global configuration (applies to all repositories).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config --system &lt;key&gt; &lt;value&gt;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Set system-wide configuration.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config --unset &lt;key&gt;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Remove configuration key.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config --global user.name "Name"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Set global username.</a:t>
            </a:r>
          </a:p>
          <a:p>
            <a:pPr>
              <a:lnSpc>
                <a:spcPts val="700"/>
              </a:lnSpc>
            </a:pPr>
            <a:endParaRPr lang="en-US" altLang="zh-CN" sz="800" b="1" dirty="0">
              <a:solidFill>
                <a:srgbClr val="FFFF00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config --global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user.email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"email@ex.com"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Set global email.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config --show-origin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config file source location.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9E9A2D2-5092-9BE8-E80B-2999979F2758}"/>
              </a:ext>
            </a:extLst>
          </p:cNvPr>
          <p:cNvSpPr txBox="1"/>
          <p:nvPr/>
        </p:nvSpPr>
        <p:spPr>
          <a:xfrm>
            <a:off x="7313400" y="2257121"/>
            <a:ext cx="2437200" cy="251806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tag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List tags.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tag &lt;tag&gt;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Create lightweight tag at current commit.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tag &lt;tag&gt; &lt;commit&gt;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Create tag for specified commit.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tag -a &lt;tag&gt; -m "message"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Create annotated tag.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tag -d &lt;tag&gt;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Delete local tag.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push origin &lt;tag&gt;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Push specific tag to remote.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push origin --tags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Push all local tags.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push origin --delete &lt;tag&gt;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Delete remote tag.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show &lt;tag&gt;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tag details (and commit info).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F31B111-96E4-E772-B2FC-51DF2DBDF46B}"/>
              </a:ext>
            </a:extLst>
          </p:cNvPr>
          <p:cNvSpPr txBox="1"/>
          <p:nvPr/>
        </p:nvSpPr>
        <p:spPr>
          <a:xfrm>
            <a:off x="7313400" y="4775183"/>
            <a:ext cx="2437200" cy="20692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list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List existing 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worktrees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add &lt;path&gt; (&lt;branch&gt;)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Create new working directory at &lt;path&gt;.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If &lt;branch&gt; not exists, it will be created.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add -b &lt;branch&gt; &lt;path&gt;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Create new branch and 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together.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remove &lt;path&gt;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Remove a 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prune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Clean up stale 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metadata.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move &lt;old-path&gt; &lt;new-path&gt;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Move existing 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to new location.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</a:t>
            </a: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lock/unlock &lt;path&gt;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Prevent/Unlock 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worktree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from being pruned.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D470AA9-969D-1D79-10AE-8133005B660C}"/>
              </a:ext>
            </a:extLst>
          </p:cNvPr>
          <p:cNvSpPr txBox="1"/>
          <p:nvPr/>
        </p:nvSpPr>
        <p:spPr>
          <a:xfrm>
            <a:off x="9754800" y="719097"/>
            <a:ext cx="2437200" cy="377481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log 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commit history.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oneline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 : Compact one-line format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--graph : Show branch graph structure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--decorate : Show branch and HEAD labels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--author="&lt;name&gt;" : Filter by author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--since="&lt;date&gt;" : Filter by date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&lt;branch1&gt;..&lt;branch2&gt; : Commits in branch2 but not in branch1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--merge : Show commits in merge conflict.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show &lt;commit&gt; : 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commit details and diff.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show &lt;commit&gt;:&lt;file&gt;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specific file at given commit.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blame &lt;file&gt;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last modification author for each line.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-L &lt;start&gt;,&lt;end&gt; : Blame specific line range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-w : Ignore whitespace changes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--since="&lt;date&gt;" : Only show recent commits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en-US" altLang="zh-CN" sz="800" b="1" dirty="0" err="1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shortlog</a:t>
            </a:r>
            <a:endParaRPr lang="en-US" altLang="zh-CN" sz="800" b="1" dirty="0">
              <a:solidFill>
                <a:srgbClr val="FFFF00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Summarize commits by author.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bisect start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Start binary search for bad commit.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bisect bad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Mark current commit as bad.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bisect good (&lt;commit&gt;)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Mark commit as good.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bisect reset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End bisect session.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FF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describe (--tags)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Show nearest tag for current commit.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--tags : Use annotated and lightweight tags.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307D3EE-2554-C745-921F-7821C74B9063}"/>
              </a:ext>
            </a:extLst>
          </p:cNvPr>
          <p:cNvSpPr txBox="1"/>
          <p:nvPr/>
        </p:nvSpPr>
        <p:spPr>
          <a:xfrm>
            <a:off x="9749400" y="4493171"/>
            <a:ext cx="2437200" cy="2340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00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Danger Zone</a:t>
            </a:r>
          </a:p>
          <a:p>
            <a:pPr>
              <a:lnSpc>
                <a:spcPts val="700"/>
              </a:lnSpc>
            </a:pPr>
            <a:endParaRPr lang="en-US" altLang="zh-CN" sz="800" b="1" dirty="0">
              <a:solidFill>
                <a:srgbClr val="FF0000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00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reset --hard (&lt;commit&gt;)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Discard all working directory + staging changes (irreversible unless </a:t>
            </a:r>
            <a:r>
              <a:rPr lang="en-US" altLang="zh-CN" sz="800" dirty="0" err="1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reflog</a:t>
            </a: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00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clean -f (-d) (-x)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Delete untracked files.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-d : Include directories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-x : Also delete ignored files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00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push --force (&lt;remote&gt; &lt;branch&gt;)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Overwrite remote history (including others’ commits).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00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commit --amend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Rewrite last commit (danger if already pushed).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00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checkout --detach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Detached HEAD (commits can be “lost” if you don’t create a branch).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700"/>
              </a:lnSpc>
            </a:pPr>
            <a:r>
              <a:rPr lang="en-US" altLang="zh-CN" sz="800" b="1" dirty="0">
                <a:solidFill>
                  <a:srgbClr val="FF0000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git branch -D &lt;branch&gt;</a:t>
            </a:r>
          </a:p>
          <a:p>
            <a:pPr>
              <a:lnSpc>
                <a:spcPts val="700"/>
              </a:lnSpc>
            </a:pPr>
            <a:r>
              <a:rPr lang="en-US" altLang="zh-CN" sz="800" dirty="0">
                <a:solidFill>
                  <a:schemeClr val="bg1"/>
                </a:solidFill>
                <a:latin typeface="Siemens Slab" pitchFamily="2" charset="0"/>
                <a:ea typeface="Calibri" panose="020F0502020204030204" pitchFamily="34" charset="0"/>
                <a:cs typeface="Calibri" panose="020F0502020204030204" pitchFamily="34" charset="0"/>
              </a:rPr>
              <a:t>Force delete branch (may lose unmerged work).</a:t>
            </a:r>
          </a:p>
          <a:p>
            <a:pPr>
              <a:lnSpc>
                <a:spcPts val="700"/>
              </a:lnSpc>
            </a:pPr>
            <a:endParaRPr lang="en-US" altLang="zh-CN" sz="800" dirty="0">
              <a:solidFill>
                <a:schemeClr val="bg1"/>
              </a:solidFill>
              <a:latin typeface="Siemens Slab" pitchFamily="2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340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1891</Words>
  <Application>Microsoft Office PowerPoint</Application>
  <PresentationFormat>宽屏</PresentationFormat>
  <Paragraphs>290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Siemens Slab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Li, Mingrui</dc:creator>
  <cp:lastModifiedBy>Li, Mingrui</cp:lastModifiedBy>
  <cp:revision>1</cp:revision>
  <dcterms:created xsi:type="dcterms:W3CDTF">2026-02-21T03:13:20Z</dcterms:created>
  <dcterms:modified xsi:type="dcterms:W3CDTF">2026-02-21T04:32:12Z</dcterms:modified>
</cp:coreProperties>
</file>