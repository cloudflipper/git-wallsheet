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7668" y="-4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4D9CF-402F-4D0C-BB85-6BFADB64E4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BBDAC-42F4-49B7-8829-12C07218DE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2437200" cy="34157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(&lt;directory&gt;)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Initialize a new local repository (.git created).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--bare : Create a bare repository (no working directory)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clone &lt;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repo_url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&gt; (&lt;directory&gt;)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Copy a complete repository from remote to local. Default remote name: origin.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--depth &lt;n&gt; : Only download n latest commits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--branch &lt;branch&gt; : Checkout specific branch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--recurse-submodules : Clone submodules automatically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status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current branch, staged/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unstaged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files, ahead/behind status.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-s / --short : Short format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-b : Show branch info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add &lt;file&gt; / git add . / git add -A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Add changes to staging area.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. : Add modified files in current directory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-A / --all : Add all changes 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-p : Interactive patch selection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commit -m "message"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Commit staged changes to repository.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-m : Specify commit message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-a : Auto-stage tracked files (not new files)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--amend : Modify last commit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--allow-empty : Allow empty commit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diff (&lt;file&gt;)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changes in working directory.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--staged : Staging vs last commit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HEAD : Working directory vs last commit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branch1 branch2 : Compare two branches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54800" y="1648"/>
            <a:ext cx="2437200" cy="7226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Generation of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Key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ssh-keygen -t ed25519 -C "email@example.com"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ssh-add ~/.ssh/id_ed25519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cat ~/.ssh/id_ed25519.pub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Paste Result to </a:t>
            </a:r>
            <a:r>
              <a:rPr lang="en-US" altLang="zh-CN" sz="800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endParaRPr lang="en-US" altLang="zh-CN" sz="800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ssh -T git@github.com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40200" y="0"/>
            <a:ext cx="2437200" cy="682693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branch / git branch &lt;branch&gt;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or list branches.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-d : Delete merged branch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-D : Force delete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-v / -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vv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: Show last commit and tracking info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switch &lt;branch&gt; / git switch -c &lt;branch&gt;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Switch branch (recommended over checkout).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-c : Create and switch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checkout &lt;branch&gt;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Legacy command for switching/creating branch.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-b : Create and switch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--detach : Detached HEAD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merge &lt;branch&gt;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Merge specified branch into current branch.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--no-ff : Always create merge commit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--ff-only : Only allow fast-forward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merge –abort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Abort current merge and restore previous state.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rebase &lt;branch&gt;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Reapply current branch commits on top of &lt;branch&gt;.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: Interactive rebase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--abort : Cancel rebase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--continue : Continue after resolving conflict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--skip : Skip problematic commit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--onto &lt;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newbase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&gt; &lt;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oldbase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&gt; &lt;branch&gt; : Rebase branch onto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newbase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, excluding before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oldbase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--rebase-merges : Preserve merge commits.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cherry-pick &lt;commit&gt; (&lt;commit2&gt; ...)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Apply specific commit(s) onto current branch.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--abort : Cancel cherry-pick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--continue : Continue after conflict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--skip : Skip commit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--allow-empty : Keep empty commit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checkout/ restore --ours &lt;file&gt;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Use current branch version of file during conflict.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checkout/ restore --theirs &lt;file&gt;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Use incoming branch version during conflict.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merge-file &lt;current&gt; &lt;base&gt; &lt;other&gt;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Perform three-way file merge manually.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diff --name-only --diff-filter=U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files with unresolved conflicts.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log --merge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commits involved in merge conflict.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show :&lt;stage&gt;:&lt;file&gt;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conflicted file at specific stage.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Stage 1 : common ancestor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Stage 2 : ours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Stage 3 : theirs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branch -u &lt;remote&gt;/&lt;branch&gt;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Set upstream tracking branch.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push -u origin &lt;branch&gt;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Push branch and set upstream in one step.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branch –r/-a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remote branches (-r) or all branches (-a).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branch --merged</a:t>
            </a:r>
            <a:b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branch --no-merged</a:t>
            </a:r>
            <a:b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merged or unmerged branches relative to current branch.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3411191"/>
            <a:ext cx="2437200" cy="34157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remote (-v)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remotes.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-v : Show remote URLs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remote add &lt;name&gt; &lt;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url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&gt;/remove &lt;name&gt;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Add/ Remove a new remote.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fetch (&lt;remote&gt;) (--all) (--prune)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Download objects and refs from remote (no merge).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--all : Fetch all remotes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--prune : Remove deleted remote branches locally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pull (&lt;remote&gt; &lt;branch&gt;) (--rebase) (--ff-only) (--no-ff)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Fetch and integrate into current branch.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--rebase : Rebase instead of merge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--ff-only : Only allow fast-forward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--no-ff : Always create merge commit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push (&lt;remote&gt; &lt;branch&gt;) (-u) (--force) (--force-with-lease) (--tags)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Upload local commits to remote.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-u : Set upstream tracking branch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--force : Overwrite remote history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--force-with-lease : Safer force push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--tags : Push all tags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push &lt;remote&gt; --delete &lt;branch&gt;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Delete remote branch.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branch -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vv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tracking branch and ahead/behind status.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ls-remote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remote refs without cloning.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77400" y="0"/>
            <a:ext cx="2437200" cy="449296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restore &lt;file&gt;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Restore working directory changes.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--staged :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Unstage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file (move from staging back to working area)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--source=&lt;commit&gt; : Restore from specific commit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reset &lt;commit&gt; (--soft) (--mixed) (--hard)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Move current branch pointer (HEAD) to specified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--soft : Keep changes staged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--mixed : Keep changes in working directory (default)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--hard : Discard all changes (dangerous)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revert &lt;commit&gt;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a new commit that reverses specified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--no-edit : Skip commit message editor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commit --amend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Modify last commit (message or staged content).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reflog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HEAD movement history (including resets and rebases).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clean (-n) (-f) (-d)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Remove untracked files.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-n : Dry run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-f : Force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-d : Include directories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stash (push) (-u) (-a)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Temporarily save uncommitted changes.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-u : Include untracked files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-a : Include ignored files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stash pop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Apply latest stash and remove 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stash apply (&lt;stash@{n}&gt;)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Apply stash without removing 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stash list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saved stashes.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stash drop (&lt;stash@{n}&gt;)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Delete stash entry.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77400" y="4492961"/>
            <a:ext cx="2437200" cy="23385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submodule add &lt;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repo_url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&gt; (&lt;path&gt;)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Add a submodule to current repository.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submodule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Initialize submodule configuration (after clone).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submodule update (--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) (--recursive)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Checkout submodule to recorded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: Initialize if not yet initialized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--recursive : Include nested submodules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clone &lt;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repo_url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&gt; --recurse-submodules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Clone repository and automatically initialize/update submodules.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submodule update --remote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Update submodule to latest commit of tracked branch.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submodule foreach &lt;command&gt;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Run command inside each submodule.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submodule status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submodule commit and state.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13400" y="0"/>
            <a:ext cx="2437200" cy="22487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--list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current Git configuration.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&lt;key&gt; &lt;value&gt;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Set configuration for current repository.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--global &lt;key&gt; &lt;value&gt;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Set global configuration (applies to all repositories).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--system &lt;key&gt; &lt;value&gt;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Set system-wide configuration.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--unset &lt;key&gt;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Remove configuration key.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--global user.name "Name"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Set global username.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--global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user.email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"email@ex.com"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Set global email.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config --show-origin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config file source location.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13400" y="2257121"/>
            <a:ext cx="2437200" cy="251806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tag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tags.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tag &lt;tag&gt;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lightweight tag at current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tag &lt;tag&gt; &lt;commit&gt;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tag for specified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tag -a &lt;tag&gt; -m "message"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annotated tag.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tag -d &lt;tag&gt;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Delete local tag.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push origin &lt;tag&gt;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Push specific tag to remote.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push origin --tags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Push all local tags.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push origin --delete &lt;tag&gt;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Delete remote tag.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show &lt;tag&gt;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tag details (and commit info).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13400" y="4775183"/>
            <a:ext cx="2437200" cy="20692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list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List existing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worktrees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add &lt;path&gt; (&lt;branch&gt;)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new working directory at &lt;path&gt;.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If &lt;branch&gt; not exists, it will be created.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add -b &lt;branch&gt; &lt;path&gt;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new branch and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together.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remove &lt;path&gt;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Remove a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prune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Clean up stale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metadata.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move &lt;old-path&gt; &lt;new-path&gt;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Move existing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to new location.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lock/unlock &lt;path&gt;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Prevent/Unlock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worktree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from being pruned.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54800" y="719097"/>
            <a:ext cx="2437200" cy="37748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log 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commit history.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oneline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 : Compact one-line format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--graph : Show branch graph structure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--decorate : Show branch and HEAD labels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--author="&lt;name&gt;" : Filter by author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--since="&lt;date&gt;" : Filter by date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&lt;branch1&gt;..&lt;branch2&gt; : Commits in branch2 but not in branch1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--merge : Show commits in merge conflict.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show &lt;commit&gt; : 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commit details and diff.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show &lt;commit&gt;:&lt;file&gt;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specific file at given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blame &lt;file&gt;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last modification author for each line.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-L &lt;start&gt;,&lt;end&gt; : Blame specific line range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-w : Ignore whitespace changes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--since="&lt;date&gt;" : Only show recent commits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altLang="zh-CN" sz="800" b="1" dirty="0" err="1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shortlog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Summarize commits by author.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bisect start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Start binary search for bad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bisect bad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Mark current commit as bad.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bisect good (&lt;commit&gt;)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Mark commit as good.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bisect reset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End bisect session.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FF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describe (--tags)</a:t>
            </a:r>
            <a:endParaRPr lang="en-US" altLang="zh-CN" sz="800" b="1" dirty="0">
              <a:solidFill>
                <a:srgbClr val="FFFF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Show nearest tag for current commit.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--tags : Use annotated and lightweight tags.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749400" y="4493171"/>
            <a:ext cx="2437200" cy="23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00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Danger Zone</a:t>
            </a: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00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reset --hard (&lt;commit&gt;)</a:t>
            </a: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Discard all working directory + staging changes (irreversible unless </a:t>
            </a:r>
            <a:r>
              <a:rPr lang="en-US" altLang="zh-CN" sz="800" dirty="0" err="1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reflog</a:t>
            </a: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00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clean -f (-d) (-x)</a:t>
            </a: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Delete untracked files.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-d : Include directories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-x : Also delete ignored files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00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push --force (&lt;remote&gt; &lt;branch&gt;)</a:t>
            </a: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Overwrite remote history (including others’ commits).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00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commit --amend</a:t>
            </a: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Rewrite last commit (danger if already pushed).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00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checkout --detach</a:t>
            </a: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Detached HEAD (commits can be “lost” if you don’t create a branch).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b="1" dirty="0">
                <a:solidFill>
                  <a:srgbClr val="FF0000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git branch -D &lt;branch&gt;</a:t>
            </a:r>
            <a:endParaRPr lang="en-US" altLang="zh-CN" sz="800" b="1" dirty="0">
              <a:solidFill>
                <a:srgbClr val="FF0000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r>
              <a:rPr lang="en-US" altLang="zh-CN" sz="800" dirty="0">
                <a:solidFill>
                  <a:schemeClr val="bg1"/>
                </a:solidFill>
                <a:latin typeface="Siemens Slab" pitchFamily="2" charset="0"/>
                <a:ea typeface="Calibri" panose="020F0502020204030204" pitchFamily="34" charset="0"/>
                <a:cs typeface="Calibri" panose="020F0502020204030204" pitchFamily="34" charset="0"/>
              </a:rPr>
              <a:t>Force delete branch (may lose unmerged work).</a:t>
            </a: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700"/>
              </a:lnSpc>
            </a:pPr>
            <a:endParaRPr lang="en-US" altLang="zh-CN" sz="800" dirty="0">
              <a:solidFill>
                <a:schemeClr val="bg1"/>
              </a:solidFill>
              <a:latin typeface="Siemens Slab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128905" y="-136525"/>
            <a:ext cx="12378690" cy="711517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8401</Words>
  <Application>WPS 演示</Application>
  <PresentationFormat>宽屏</PresentationFormat>
  <Paragraphs>305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Siemens Slab</vt:lpstr>
      <vt:lpstr>Calibri</vt:lpstr>
      <vt:lpstr>微软雅黑</vt:lpstr>
      <vt:lpstr>Arial Unicode MS</vt:lpstr>
      <vt:lpstr>等线 Light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Mingrui</dc:creator>
  <cp:lastModifiedBy>李明睿</cp:lastModifiedBy>
  <cp:revision>2</cp:revision>
  <dcterms:created xsi:type="dcterms:W3CDTF">2026-02-21T03:13:00Z</dcterms:created>
  <dcterms:modified xsi:type="dcterms:W3CDTF">2026-02-21T04:54:33Z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99FAA53CB7554750AB6A4A2C7C67E0EF_12</vt:lpwstr>
  </property>
  <property fmtid="{D5CDD505-2E9C-101B-9397-08002B2CF9AE}" pid="3" name="KSOProductBuildVer">
    <vt:lpwstr>2052-12.1.0.23542</vt:lpwstr>
  </property>
</Properties>
</file>